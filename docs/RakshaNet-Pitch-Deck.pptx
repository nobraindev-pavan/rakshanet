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0A1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go-5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920240"/>
            <a:ext cx="2377440" cy="23774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474720" y="182880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6000" b="1">
                <a:solidFill>
                  <a:srgbClr val="EAF1FF"/>
                </a:solidFill>
                <a:latin typeface="Segoe UI"/>
              </a:rPr>
              <a:t>RakshaNet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474720" y="292608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800" b="1">
                <a:solidFill>
                  <a:srgbClr val="3B82F6"/>
                </a:solidFill>
                <a:latin typeface="Segoe UI"/>
              </a:rPr>
              <a:t>Your shield against cyber fraud.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474720" y="3840480"/>
            <a:ext cx="80467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0">
                <a:solidFill>
                  <a:srgbClr val="98A8D4"/>
                </a:solidFill>
                <a:latin typeface="Segoe UI"/>
              </a:rPr>
              <a:t>AI scam checker, golden-hour emergency guide, tamper-evident evidence vault and an AI complaint drafter, in one offline-first app. Async'26 Hackathon.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0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>
                <a:solidFill>
                  <a:srgbClr val="3B82F6"/>
                </a:solidFill>
                <a:latin typeface="Segoe UI"/>
              </a:rP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>
                <a:solidFill>
                  <a:srgbClr val="EAF1FF"/>
                </a:solidFill>
                <a:latin typeface="Segoe UI"/>
              </a:rPr>
              <a:t>Cyber fraud wins at three moments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920240"/>
            <a:ext cx="3474720" cy="3291840"/>
          </a:xfrm>
          <a:prstGeom prst="roundRect">
            <a:avLst>
              <a:gd name="adj" fmla="val 8000"/>
            </a:avLst>
          </a:prstGeom>
          <a:solidFill>
            <a:srgbClr val="111A3D"/>
          </a:solidFill>
          <a:ln>
            <a:solidFill>
              <a:srgbClr val="2434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2148840"/>
            <a:ext cx="73152" cy="4572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103120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1">
                <a:solidFill>
                  <a:srgbClr val="EAF1FF"/>
                </a:solidFill>
                <a:latin typeface="Segoe UI"/>
              </a:rPr>
              <a:t>Before: it looks real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651760"/>
            <a:ext cx="301752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>
                <a:solidFill>
                  <a:srgbClr val="98A8D4"/>
                </a:solidFill>
                <a:latin typeface="Segoe UI"/>
              </a:rPr>
              <a:t>Fake KYC SMS, "digital arrest" calls, task scams and look-alike bank links are convincing, and people have seconds to decide.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3400" y="1920240"/>
            <a:ext cx="3474720" cy="3291840"/>
          </a:xfrm>
          <a:prstGeom prst="roundRect">
            <a:avLst>
              <a:gd name="adj" fmla="val 8000"/>
            </a:avLst>
          </a:prstGeom>
          <a:solidFill>
            <a:srgbClr val="111A3D"/>
          </a:solidFill>
          <a:ln>
            <a:solidFill>
              <a:srgbClr val="2434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43400" y="2148840"/>
            <a:ext cx="73152" cy="457200"/>
          </a:xfrm>
          <a:prstGeom prst="rect">
            <a:avLst/>
          </a:prstGeom>
          <a:solidFill>
            <a:srgbClr val="F5B30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17720" y="2103120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1">
                <a:solidFill>
                  <a:srgbClr val="EAF1FF"/>
                </a:solidFill>
                <a:latin typeface="Segoe UI"/>
              </a:rPr>
              <a:t>During: panic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17720" y="2651760"/>
            <a:ext cx="301752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>
                <a:solidFill>
                  <a:srgbClr val="98A8D4"/>
                </a:solidFill>
                <a:latin typeface="Segoe UI"/>
              </a:rPr>
              <a:t>Victims freeze. They don't know to call 1930 within the golden hour, when the money can still be frozen.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20" y="1920240"/>
            <a:ext cx="3474720" cy="3291840"/>
          </a:xfrm>
          <a:prstGeom prst="roundRect">
            <a:avLst>
              <a:gd name="adj" fmla="val 8000"/>
            </a:avLst>
          </a:prstGeom>
          <a:solidFill>
            <a:srgbClr val="111A3D"/>
          </a:solidFill>
          <a:ln>
            <a:solidFill>
              <a:srgbClr val="2434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046720" y="2148840"/>
            <a:ext cx="73152" cy="457200"/>
          </a:xfrm>
          <a:prstGeom prst="rect">
            <a:avLst/>
          </a:prstGeom>
          <a:solidFill>
            <a:srgbClr val="6D5D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21040" y="2103120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1">
                <a:solidFill>
                  <a:srgbClr val="EAF1FF"/>
                </a:solidFill>
                <a:latin typeface="Segoe UI"/>
              </a:rPr>
              <a:t>After: messy proof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0" y="2651760"/>
            <a:ext cx="301752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>
                <a:solidFill>
                  <a:srgbClr val="98A8D4"/>
                </a:solidFill>
                <a:latin typeface="Segoe UI"/>
              </a:rPr>
              <a:t>Screenshots get deleted, complaints are vague, and evidence can be questioned. Cases stall.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5778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>
                <a:solidFill>
                  <a:srgbClr val="98A8D4"/>
                </a:solidFill>
                <a:latin typeface="Segoe UI"/>
              </a:rPr>
              <a:t>India's National Cyber Crime Helpline is 1930; complaints are filed at cybercrime.gov.in. RakshaNet gets victims there faster, with better evidence.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0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>
                <a:solidFill>
                  <a:srgbClr val="3B82F6"/>
                </a:solidFill>
                <a:latin typeface="Segoe UI"/>
              </a:rPr>
              <a:t>THE SOLUTION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>
                <a:solidFill>
                  <a:srgbClr val="EAF1FF"/>
                </a:solidFill>
                <a:latin typeface="Segoe UI"/>
              </a:rPr>
              <a:t>Check it. Act fast. Keep proof. Report.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828800"/>
            <a:ext cx="2697480" cy="4023360"/>
          </a:xfrm>
          <a:prstGeom prst="roundRect">
            <a:avLst>
              <a:gd name="adj" fmla="val 8000"/>
            </a:avLst>
          </a:prstGeom>
          <a:solidFill>
            <a:srgbClr val="111A3D"/>
          </a:solidFill>
          <a:ln>
            <a:solidFill>
              <a:srgbClr val="2434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2057400"/>
            <a:ext cx="73152" cy="4572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011680"/>
            <a:ext cx="2240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1">
                <a:solidFill>
                  <a:srgbClr val="EAF1FF"/>
                </a:solidFill>
                <a:latin typeface="Segoe UI"/>
              </a:rPr>
              <a:t>Scam Check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560320"/>
            <a:ext cx="22402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>
                <a:solidFill>
                  <a:srgbClr val="98A8D4"/>
                </a:solidFill>
                <a:latin typeface="Segoe UI"/>
              </a:rPr>
              <a:t>Paste any SMS, WhatsApp, email, link or call script. Instant offline verdict, then an AI analysis (Gemini or Claude): risk, scam type, red flags, next steps.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74720" y="1828800"/>
            <a:ext cx="2697480" cy="4023360"/>
          </a:xfrm>
          <a:prstGeom prst="roundRect">
            <a:avLst>
              <a:gd name="adj" fmla="val 8000"/>
            </a:avLst>
          </a:prstGeom>
          <a:solidFill>
            <a:srgbClr val="111A3D"/>
          </a:solidFill>
          <a:ln>
            <a:solidFill>
              <a:srgbClr val="2434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474720" y="2057400"/>
            <a:ext cx="73152" cy="457200"/>
          </a:xfrm>
          <a:prstGeom prst="rect">
            <a:avLst/>
          </a:prstGeom>
          <a:solidFill>
            <a:srgbClr val="F5B30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49039" y="2011680"/>
            <a:ext cx="2240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1">
                <a:solidFill>
                  <a:srgbClr val="EAF1FF"/>
                </a:solidFill>
                <a:latin typeface="Segoe UI"/>
              </a:rPr>
              <a:t>Golden-hour guide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49039" y="2560320"/>
            <a:ext cx="22402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>
                <a:solidFill>
                  <a:srgbClr val="98A8D4"/>
                </a:solidFill>
                <a:latin typeface="Segoe UI"/>
              </a:rPr>
              <a:t>"Lost money?" flow: call 1930, block bank and UPI, secure accounts, warn contacts, with a checklist that remembers progress.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09360" y="1828800"/>
            <a:ext cx="2697480" cy="4023360"/>
          </a:xfrm>
          <a:prstGeom prst="roundRect">
            <a:avLst>
              <a:gd name="adj" fmla="val 8000"/>
            </a:avLst>
          </a:prstGeom>
          <a:solidFill>
            <a:srgbClr val="111A3D"/>
          </a:solidFill>
          <a:ln>
            <a:solidFill>
              <a:srgbClr val="2434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09360" y="2057400"/>
            <a:ext cx="73152" cy="457200"/>
          </a:xfrm>
          <a:prstGeom prst="rect">
            <a:avLst/>
          </a:prstGeom>
          <a:solidFill>
            <a:srgbClr val="6D5D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0" y="2011680"/>
            <a:ext cx="2240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1">
                <a:solidFill>
                  <a:srgbClr val="EAF1FF"/>
                </a:solidFill>
                <a:latin typeface="Segoe UI"/>
              </a:rPr>
              <a:t>Evidence Vault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0" y="2560320"/>
            <a:ext cx="22402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>
                <a:solidFill>
                  <a:srgbClr val="98A8D4"/>
                </a:solidFill>
                <a:latin typeface="Segoe UI"/>
              </a:rPr>
              <a:t>Messages and screenshots are SHA-256 hashed and chained. Any edit is caught. Sign with a wallet to timestamp.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44000" y="1828800"/>
            <a:ext cx="2423160" cy="4023360"/>
          </a:xfrm>
          <a:prstGeom prst="roundRect">
            <a:avLst>
              <a:gd name="adj" fmla="val 8000"/>
            </a:avLst>
          </a:prstGeom>
          <a:solidFill>
            <a:srgbClr val="111A3D"/>
          </a:solidFill>
          <a:ln>
            <a:solidFill>
              <a:srgbClr val="2434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144000" y="2057400"/>
            <a:ext cx="73152" cy="457200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418320" y="2011680"/>
            <a:ext cx="1965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1">
                <a:solidFill>
                  <a:srgbClr val="EAF1FF"/>
                </a:solidFill>
                <a:latin typeface="Segoe UI"/>
              </a:rPr>
              <a:t>AI complaint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18320" y="2560320"/>
            <a:ext cx="19659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>
                <a:solidFill>
                  <a:srgbClr val="98A8D4"/>
                </a:solidFill>
                <a:latin typeface="Segoe UI"/>
              </a:rPr>
              <a:t>AI drafts a ready-to-file cybercrime.gov.in complaint with suspect IDs and evidence hashes.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0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>
                <a:solidFill>
                  <a:srgbClr val="3B82F6"/>
                </a:solidFill>
                <a:latin typeface="Segoe UI"/>
              </a:rPr>
              <a:t>HOW IT WORKS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>
                <a:solidFill>
                  <a:srgbClr val="EAF1FF"/>
                </a:solidFill>
                <a:latin typeface="Segoe UI"/>
              </a:rPr>
              <a:t>Offline-first rules plus AI where it matters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828800"/>
            <a:ext cx="3474720" cy="2148840"/>
          </a:xfrm>
          <a:prstGeom prst="roundRect">
            <a:avLst>
              <a:gd name="adj" fmla="val 8000"/>
            </a:avLst>
          </a:prstGeom>
          <a:solidFill>
            <a:srgbClr val="111A3D"/>
          </a:solidFill>
          <a:ln>
            <a:solidFill>
              <a:srgbClr val="2434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2057400"/>
            <a:ext cx="73152" cy="4572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011680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1">
                <a:solidFill>
                  <a:srgbClr val="EAF1FF"/>
                </a:solidFill>
                <a:latin typeface="Segoe UI"/>
              </a:rPr>
              <a:t>1. Instant rules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560320"/>
            <a:ext cx="301752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98A8D4"/>
                </a:solidFill>
                <a:latin typeface="Segoe UI"/>
              </a:rPr>
              <a:t>20+ patterns for Indian scams plus link forensics: look-alike bank domains, punycode, shorteners, bare IPs, risky TLDs. Extracts UPI IDs, phones, links and amounts.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3400" y="1828800"/>
            <a:ext cx="3474720" cy="2148840"/>
          </a:xfrm>
          <a:prstGeom prst="roundRect">
            <a:avLst>
              <a:gd name="adj" fmla="val 8000"/>
            </a:avLst>
          </a:prstGeom>
          <a:solidFill>
            <a:srgbClr val="111A3D"/>
          </a:solidFill>
          <a:ln>
            <a:solidFill>
              <a:srgbClr val="2434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43400" y="2057400"/>
            <a:ext cx="73152" cy="4572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17720" y="2011680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1">
                <a:solidFill>
                  <a:srgbClr val="EAF1FF"/>
                </a:solidFill>
                <a:latin typeface="Segoe UI"/>
              </a:rPr>
              <a:t>2. AI analysis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17720" y="2560320"/>
            <a:ext cx="301752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98A8D4"/>
                </a:solidFill>
                <a:latin typeface="Segoe UI"/>
              </a:rPr>
              <a:t>Server function calls Gemini (free tier) or Claude with a JSON-schema structured output. Pasted text is fenced as untrusted data. It falls back to the rules on any failure.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19" y="1828800"/>
            <a:ext cx="3474720" cy="2148840"/>
          </a:xfrm>
          <a:prstGeom prst="roundRect">
            <a:avLst>
              <a:gd name="adj" fmla="val 8000"/>
            </a:avLst>
          </a:prstGeom>
          <a:solidFill>
            <a:srgbClr val="111A3D"/>
          </a:solidFill>
          <a:ln>
            <a:solidFill>
              <a:srgbClr val="2434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046719" y="2057400"/>
            <a:ext cx="73152" cy="4572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21040" y="2011680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1">
                <a:solidFill>
                  <a:srgbClr val="EAF1FF"/>
                </a:solidFill>
                <a:latin typeface="Segoe UI"/>
              </a:rPr>
              <a:t>3. Seal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0" y="2560320"/>
            <a:ext cx="301752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98A8D4"/>
                </a:solidFill>
                <a:latin typeface="Segoe UI"/>
              </a:rPr>
              <a:t>Each record = canonical JSON {index, time, type, payload, prevHash} hashed with WebCrypto SHA-256. Files are hashed, never uploaded.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160520"/>
            <a:ext cx="3474720" cy="2148840"/>
          </a:xfrm>
          <a:prstGeom prst="roundRect">
            <a:avLst>
              <a:gd name="adj" fmla="val 8000"/>
            </a:avLst>
          </a:prstGeom>
          <a:solidFill>
            <a:srgbClr val="111A3D"/>
          </a:solidFill>
          <a:ln>
            <a:solidFill>
              <a:srgbClr val="2434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080" y="4389120"/>
            <a:ext cx="73152" cy="4572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343400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1">
                <a:solidFill>
                  <a:srgbClr val="EAF1FF"/>
                </a:solidFill>
                <a:latin typeface="Segoe UI"/>
              </a:rPr>
              <a:t>4. Verify &amp; anchor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4892040"/>
            <a:ext cx="301752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98A8D4"/>
                </a:solidFill>
                <a:latin typeface="Segoe UI"/>
              </a:rPr>
              <a:t>Recompute the chain to pinpoint any edit, deletion or reorder. EIP-1193 personal_sign timestamps the vault head.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343400" y="4160520"/>
            <a:ext cx="3474720" cy="2148840"/>
          </a:xfrm>
          <a:prstGeom prst="roundRect">
            <a:avLst>
              <a:gd name="adj" fmla="val 8000"/>
            </a:avLst>
          </a:prstGeom>
          <a:solidFill>
            <a:srgbClr val="111A3D"/>
          </a:solidFill>
          <a:ln>
            <a:solidFill>
              <a:srgbClr val="2434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343400" y="4389120"/>
            <a:ext cx="73152" cy="4572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617720" y="4343400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1">
                <a:solidFill>
                  <a:srgbClr val="EAF1FF"/>
                </a:solidFill>
                <a:latin typeface="Segoe UI"/>
              </a:rPr>
              <a:t>5. Draft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17720" y="4892040"/>
            <a:ext cx="301752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98A8D4"/>
                </a:solidFill>
                <a:latin typeface="Segoe UI"/>
              </a:rPr>
              <a:t>The AI writes the complaint from the given facts only, leaving &lt;placeholders&gt; for gaps. Offline template fallback.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46719" y="4160520"/>
            <a:ext cx="3474720" cy="2148840"/>
          </a:xfrm>
          <a:prstGeom prst="roundRect">
            <a:avLst>
              <a:gd name="adj" fmla="val 8000"/>
            </a:avLst>
          </a:prstGeom>
          <a:solidFill>
            <a:srgbClr val="111A3D"/>
          </a:solidFill>
          <a:ln>
            <a:solidFill>
              <a:srgbClr val="2434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046719" y="4389120"/>
            <a:ext cx="73152" cy="4572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321040" y="4343400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1">
                <a:solidFill>
                  <a:srgbClr val="EAF1FF"/>
                </a:solidFill>
                <a:latin typeface="Segoe UI"/>
              </a:rPr>
              <a:t>6. Private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21040" y="4892040"/>
            <a:ext cx="301752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98A8D4"/>
                </a:solidFill>
                <a:latin typeface="Segoe UI"/>
              </a:rPr>
              <a:t>Installable PWA with no accounts. Data stays on the device, and text is sent to AI only when you press Check or Draft.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0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>
                <a:solidFill>
                  <a:srgbClr val="3B82F6"/>
                </a:solidFill>
                <a:latin typeface="Segoe UI"/>
              </a:rPr>
              <a:t>LIVE PROTOTYPE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>
                <a:solidFill>
                  <a:srgbClr val="EAF1FF"/>
                </a:solidFill>
                <a:latin typeface="Segoe UI"/>
              </a:rPr>
              <a:t>Built, tested and running today</a:t>
            </a:r>
          </a:p>
        </p:txBody>
      </p:sp>
      <p:pic>
        <p:nvPicPr>
          <p:cNvPr id="4" name="Picture 3" descr="check-resul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737360"/>
            <a:ext cx="2197160" cy="4754880"/>
          </a:xfrm>
          <a:prstGeom prst="rect">
            <a:avLst/>
          </a:prstGeom>
        </p:spPr>
      </p:pic>
      <p:pic>
        <p:nvPicPr>
          <p:cNvPr id="5" name="Picture 4" descr="scamm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0" y="1737360"/>
            <a:ext cx="2197160" cy="4754880"/>
          </a:xfrm>
          <a:prstGeom prst="rect">
            <a:avLst/>
          </a:prstGeom>
        </p:spPr>
      </p:pic>
      <p:pic>
        <p:nvPicPr>
          <p:cNvPr id="6" name="Picture 5" descr="vaul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92240" y="1737360"/>
            <a:ext cx="2197160" cy="4754880"/>
          </a:xfrm>
          <a:prstGeom prst="rect">
            <a:avLst/>
          </a:prstGeom>
        </p:spPr>
      </p:pic>
      <p:pic>
        <p:nvPicPr>
          <p:cNvPr id="7" name="Picture 6" descr="repor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26880" y="1737360"/>
            <a:ext cx="2197160" cy="475488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0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>
                <a:solidFill>
                  <a:srgbClr val="3B82F6"/>
                </a:solidFill>
                <a:latin typeface="Segoe UI"/>
              </a:rPr>
              <a:t>WHY RAKSHANET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>
                <a:solidFill>
                  <a:srgbClr val="EAF1FF"/>
                </a:solidFill>
                <a:latin typeface="Segoe UI"/>
              </a:rPr>
              <a:t>What makes it different</a:t>
            </a:r>
          </a:p>
        </p:txBody>
      </p:sp>
      <p:sp>
        <p:nvSpPr>
          <p:cNvPr id="4" name="Oval 3"/>
          <p:cNvSpPr/>
          <p:nvPr/>
        </p:nvSpPr>
        <p:spPr>
          <a:xfrm>
            <a:off x="685800" y="1938528"/>
            <a:ext cx="201168" cy="201168"/>
          </a:xfrm>
          <a:prstGeom prst="ellipse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51560" y="1828800"/>
            <a:ext cx="4480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900" b="1">
                <a:solidFill>
                  <a:srgbClr val="EAF1FF"/>
                </a:solidFill>
                <a:latin typeface="Segoe UI"/>
              </a:rPr>
              <a:t>Works with zero signal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577840" y="1828800"/>
            <a:ext cx="6126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>
                <a:solidFill>
                  <a:srgbClr val="98A8D4"/>
                </a:solidFill>
                <a:latin typeface="Segoe UI"/>
              </a:rPr>
              <a:t>Rule engine and vault run offline; AI enhances, never blocks</a:t>
            </a:r>
          </a:p>
        </p:txBody>
      </p:sp>
      <p:sp>
        <p:nvSpPr>
          <p:cNvPr id="7" name="Oval 6"/>
          <p:cNvSpPr/>
          <p:nvPr/>
        </p:nvSpPr>
        <p:spPr>
          <a:xfrm>
            <a:off x="685800" y="2670048"/>
            <a:ext cx="201168" cy="201168"/>
          </a:xfrm>
          <a:prstGeom prst="ellipse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560320"/>
            <a:ext cx="4480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900" b="1">
                <a:solidFill>
                  <a:srgbClr val="EAF1FF"/>
                </a:solidFill>
                <a:latin typeface="Segoe UI"/>
              </a:rPr>
              <a:t>Built for Indian scams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577840" y="2560320"/>
            <a:ext cx="6126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>
                <a:solidFill>
                  <a:srgbClr val="98A8D4"/>
                </a:solidFill>
                <a:latin typeface="Segoe UI"/>
              </a:rPr>
              <a:t>Digital arrest, UPI collect, KYC, task and loan-app frauds, plus 1930 and NCRP flow</a:t>
            </a:r>
          </a:p>
        </p:txBody>
      </p:sp>
      <p:sp>
        <p:nvSpPr>
          <p:cNvPr id="10" name="Oval 9"/>
          <p:cNvSpPr/>
          <p:nvPr/>
        </p:nvSpPr>
        <p:spPr>
          <a:xfrm>
            <a:off x="685800" y="3401568"/>
            <a:ext cx="201168" cy="201168"/>
          </a:xfrm>
          <a:prstGeom prst="ellipse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3291840"/>
            <a:ext cx="4480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900" b="1">
                <a:solidFill>
                  <a:srgbClr val="EAF1FF"/>
                </a:solidFill>
                <a:latin typeface="Segoe UI"/>
              </a:rPr>
              <a:t>Proof that holds up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77840" y="3291840"/>
            <a:ext cx="6126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>
                <a:solidFill>
                  <a:srgbClr val="98A8D4"/>
                </a:solidFill>
                <a:latin typeface="Segoe UI"/>
              </a:rPr>
              <a:t>Hash-chained vault plus wallet signature: tampering is provable</a:t>
            </a:r>
          </a:p>
        </p:txBody>
      </p:sp>
      <p:sp>
        <p:nvSpPr>
          <p:cNvPr id="13" name="Oval 12"/>
          <p:cNvSpPr/>
          <p:nvPr/>
        </p:nvSpPr>
        <p:spPr>
          <a:xfrm>
            <a:off x="685800" y="4133088"/>
            <a:ext cx="201168" cy="201168"/>
          </a:xfrm>
          <a:prstGeom prst="ellipse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1560" y="4023360"/>
            <a:ext cx="4480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900" b="1">
                <a:solidFill>
                  <a:srgbClr val="EAF1FF"/>
                </a:solidFill>
                <a:latin typeface="Segoe UI"/>
              </a:rPr>
              <a:t>From panic to complaint in minutes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577840" y="4023360"/>
            <a:ext cx="6126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>
                <a:solidFill>
                  <a:srgbClr val="98A8D4"/>
                </a:solidFill>
                <a:latin typeface="Segoe UI"/>
              </a:rPr>
              <a:t>Checklist, then evidence, then an AI-drafted complaint</a:t>
            </a:r>
          </a:p>
        </p:txBody>
      </p:sp>
      <p:sp>
        <p:nvSpPr>
          <p:cNvPr id="16" name="Oval 15"/>
          <p:cNvSpPr/>
          <p:nvPr/>
        </p:nvSpPr>
        <p:spPr>
          <a:xfrm>
            <a:off x="685800" y="4864608"/>
            <a:ext cx="201168" cy="201168"/>
          </a:xfrm>
          <a:prstGeom prst="ellipse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4754880"/>
            <a:ext cx="4480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900" b="1">
                <a:solidFill>
                  <a:srgbClr val="EAF1FF"/>
                </a:solidFill>
                <a:latin typeface="Segoe UI"/>
              </a:rPr>
              <a:t>Safe AI by design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77840" y="4754880"/>
            <a:ext cx="6126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>
                <a:solidFill>
                  <a:srgbClr val="98A8D4"/>
                </a:solidFill>
                <a:latin typeface="Segoe UI"/>
              </a:rPr>
              <a:t>Structured output, prompt-injection fencing, no invented facts</a:t>
            </a:r>
          </a:p>
        </p:txBody>
      </p:sp>
      <p:sp>
        <p:nvSpPr>
          <p:cNvPr id="19" name="Oval 18"/>
          <p:cNvSpPr/>
          <p:nvPr/>
        </p:nvSpPr>
        <p:spPr>
          <a:xfrm>
            <a:off x="685800" y="5596128"/>
            <a:ext cx="201168" cy="201168"/>
          </a:xfrm>
          <a:prstGeom prst="ellipse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1560" y="5486400"/>
            <a:ext cx="4480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900" b="1">
                <a:solidFill>
                  <a:srgbClr val="EAF1FF"/>
                </a:solidFill>
                <a:latin typeface="Segoe UI"/>
              </a:rPr>
              <a:t>Private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577840" y="5486400"/>
            <a:ext cx="6126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>
                <a:solidFill>
                  <a:srgbClr val="98A8D4"/>
                </a:solidFill>
                <a:latin typeface="Segoe UI"/>
              </a:rPr>
              <a:t>No sign-up, no database; you choose what is sent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0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>
                <a:solidFill>
                  <a:srgbClr val="3B82F6"/>
                </a:solidFill>
                <a:latin typeface="Segoe UI"/>
              </a:rPr>
              <a:t>ROADMAP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>
                <a:solidFill>
                  <a:srgbClr val="EAF1FF"/>
                </a:solidFill>
                <a:latin typeface="Segoe UI"/>
              </a:rPr>
              <a:t>From prototype to a national scam shield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920240"/>
            <a:ext cx="3474720" cy="3474720"/>
          </a:xfrm>
          <a:prstGeom prst="roundRect">
            <a:avLst>
              <a:gd name="adj" fmla="val 8000"/>
            </a:avLst>
          </a:prstGeom>
          <a:solidFill>
            <a:srgbClr val="111A3D"/>
          </a:solidFill>
          <a:ln>
            <a:solidFill>
              <a:srgbClr val="2434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2148840"/>
            <a:ext cx="73152" cy="457200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103120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1">
                <a:solidFill>
                  <a:srgbClr val="EAF1FF"/>
                </a:solidFill>
                <a:latin typeface="Segoe UI"/>
              </a:rPr>
              <a:t>Now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651760"/>
            <a:ext cx="301752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>
                <a:solidFill>
                  <a:srgbClr val="98A8D4"/>
                </a:solidFill>
                <a:latin typeface="Segoe UI"/>
              </a:rPr>
              <a:t>Offline rules plus AI scam analysis (Gemini / Claude), golden-hour guide, hash-chained Evidence Vault with wallet signing, AI complaint drafter, PWA.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3400" y="1920240"/>
            <a:ext cx="3474720" cy="3474720"/>
          </a:xfrm>
          <a:prstGeom prst="roundRect">
            <a:avLst>
              <a:gd name="adj" fmla="val 8000"/>
            </a:avLst>
          </a:prstGeom>
          <a:solidFill>
            <a:srgbClr val="111A3D"/>
          </a:solidFill>
          <a:ln>
            <a:solidFill>
              <a:srgbClr val="2434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43400" y="2148840"/>
            <a:ext cx="73152" cy="457200"/>
          </a:xfrm>
          <a:prstGeom prst="rect">
            <a:avLst/>
          </a:prstGeom>
          <a:solidFill>
            <a:srgbClr val="F5B30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17720" y="2103120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1">
                <a:solidFill>
                  <a:srgbClr val="EAF1FF"/>
                </a:solidFill>
                <a:latin typeface="Segoe UI"/>
              </a:rPr>
              <a:t>Next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17720" y="2651760"/>
            <a:ext cx="301752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>
                <a:solidFill>
                  <a:srgbClr val="98A8D4"/>
                </a:solidFill>
                <a:latin typeface="Segoe UI"/>
              </a:rPr>
              <a:t>Screenshot input to the AI, Hindi and regional languages, WhatsApp bot and browser extension, community-reported scam numbers and UPI IDs.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19" y="1920240"/>
            <a:ext cx="3474720" cy="3474720"/>
          </a:xfrm>
          <a:prstGeom prst="roundRect">
            <a:avLst>
              <a:gd name="adj" fmla="val 8000"/>
            </a:avLst>
          </a:prstGeom>
          <a:solidFill>
            <a:srgbClr val="111A3D"/>
          </a:solidFill>
          <a:ln>
            <a:solidFill>
              <a:srgbClr val="2434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046719" y="2148840"/>
            <a:ext cx="73152" cy="457200"/>
          </a:xfrm>
          <a:prstGeom prst="rect">
            <a:avLst/>
          </a:prstGeom>
          <a:solidFill>
            <a:srgbClr val="6D5D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21040" y="2103120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1">
                <a:solidFill>
                  <a:srgbClr val="EAF1FF"/>
                </a:solidFill>
                <a:latin typeface="Segoe UI"/>
              </a:rPr>
              <a:t>Later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0" y="2651760"/>
            <a:ext cx="301752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>
                <a:solidFill>
                  <a:srgbClr val="98A8D4"/>
                </a:solidFill>
                <a:latin typeface="Segoe UI"/>
              </a:rPr>
              <a:t>Periodic on-chain anchoring of vault roots, bank and NCRP integrations, live call-scam detection, dashboard for police cyber cells.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0A1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go-5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4648" y="1188720"/>
            <a:ext cx="1828800" cy="18288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329184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3200" b="1">
                <a:solidFill>
                  <a:srgbClr val="EAF1FF"/>
                </a:solidFill>
                <a:latin typeface="Segoe UI"/>
              </a:rPr>
              <a:t>Stop the scam. Save the proof. Get help faster.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389120"/>
            <a:ext cx="108813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800" b="0">
                <a:solidFill>
                  <a:srgbClr val="98A8D4"/>
                </a:solidFill>
                <a:latin typeface="Segoe UI"/>
              </a:rPr>
              <a:t>Try it: &lt;live link&gt;   ·   Code: github.com/nobraindev-pavan/Rakshanet</a:t>
            </a:r>
          </a:p>
          <a:p>
            <a:pPr algn="ctr">
              <a:spcAft>
                <a:spcPts val="800"/>
              </a:spcAft>
            </a:pPr>
            <a:r>
              <a:rPr sz="1800" b="0">
                <a:solidFill>
                  <a:srgbClr val="98A8D4"/>
                </a:solidFill>
                <a:latin typeface="Segoe UI"/>
              </a:rPr>
              <a:t>Helpline 1930  ·  cybercrime.gov.in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